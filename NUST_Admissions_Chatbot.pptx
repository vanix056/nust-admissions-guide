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3474720" cy="3474720"/>
          </a:xfrm>
          <a:prstGeom prst="ellipse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822960"/>
            <a:ext cx="2377440" cy="237744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256032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NUST ADMISSIONS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Admissions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FAQ Retrieval System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1920240" cy="105156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97.73%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3703320"/>
            <a:ext cx="1920240" cy="105156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3.2ms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 Latency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03320"/>
            <a:ext cx="1920240" cy="105156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144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FAQ Entries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703320"/>
            <a:ext cx="1920240" cy="105156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7490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</a:rPr>
              <a:t>7,229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800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Maintained by Muhammad Abdullah Waqar  •  March 31, 2026  •  github.com/vanix056/Nust-admissions-guide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Query Processing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1  Input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Normalize text • Handle compound queries • Spell correction &amp; vocab alignment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  Intent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28016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40+ patterns • Exact matches (fee+refund+join) • Direct FAQ lock for high-confidence hits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48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48840"/>
            <a:ext cx="64008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40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3  Semantic Retrieval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5603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SentenceTransformer encode • FAISS index search • Fuzzy matching • Weighted blending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64008" cy="10972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240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  Confidence Check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6032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Semantic conf ≥ 0.34 • Fuzzy conf ≥ 62 • Below threshold → Unknown response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429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29000"/>
            <a:ext cx="64008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5  Answer Formatting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840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Extract FAQ text • Fix spacing/markup • Embed URLs • Offline link expansion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429000"/>
            <a:ext cx="64008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5204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6  Cache &amp; Return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84048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Cache normalized query • Return {Answer, Source, Confidence, Matched_Question}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Test Results &amp; Performance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210312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Overall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Total Test Cases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468880" y="123444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7,229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472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Correct Matches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468880" y="14721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7,065 (97.73%)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17099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Incorrect Matches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7099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164 (2.27%)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194767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Unknown Responses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68880" y="19476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0 (0.00%)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2185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Status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68880" y="21854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✔ EXCEEDS TARGET (95%)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4206240" cy="210312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Latency Distribution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23444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Average (Mean)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0" y="12344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3.20ms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32320" y="12344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~3–4ms typical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00600" y="14721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Median (P50)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17920" y="14721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1.79ms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14721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50% queries faster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170992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75th Percentile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0" y="1709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3.51ms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0" y="170992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75% within 3.5ms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00600" y="194767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95th Percentile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17920" y="19476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6.51ms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132320" y="194767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95% within 7ms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00600" y="21854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Target Status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0" y="21854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</a:rPr>
              <a:t>&lt;50ms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32320" y="218541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6A34A"/>
                </a:solidFill>
              </a:rPr>
              <a:t>Exceeded by 7x ✔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7432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Flow Latency Breakdown (ms)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4320" y="3429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Input normalization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06040" y="3447288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06040" y="3447288"/>
            <a:ext cx="33528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87040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0.1ms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74320" y="36393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Intent matching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606040" y="3657600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06040" y="3657600"/>
            <a:ext cx="167640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28160" y="36393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0.5ms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20" y="384962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Semantic embedding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606040" y="3867912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06040" y="3867912"/>
            <a:ext cx="502920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80960" y="38496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1.5ms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74320" y="40599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FAISS search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606040" y="4078224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06040" y="4078224"/>
            <a:ext cx="100584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0.3ms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74320" y="42702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Fuzzy matching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606040" y="4288536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6040" y="4288536"/>
            <a:ext cx="167640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28160" y="42702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0.5ms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274320" y="4480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Ranking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06040" y="4498848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606040" y="4498848"/>
            <a:ext cx="67056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322320" y="44805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0.2ms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274320" y="469087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Formatting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606040" y="4709160"/>
            <a:ext cx="5029200" cy="146304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06040" y="4709160"/>
            <a:ext cx="335280" cy="1463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87040" y="46908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B6D4"/>
                </a:solidFill>
              </a:rPr>
              <a:t>0.1ms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7432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6A34A"/>
                </a:solidFill>
              </a:rPr>
              <a:t>Total: ~3.2ms per query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Hardware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7772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Component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777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Minimum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777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High-End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097280"/>
            <a:ext cx="7772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03120" y="1097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2GB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0" y="1097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4GB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852160" y="10972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8GB+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353312"/>
            <a:ext cx="777240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CPU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03120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2-core@2GHz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4-core@2.5GHz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52160" y="13533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8-core@3GHz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1609344"/>
            <a:ext cx="7772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0312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2GB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5GB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52160" y="1609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10GB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1865376"/>
            <a:ext cx="7772400" cy="2560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GPU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1865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0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GPU optional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52160" y="18653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GPU helpful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2121408"/>
            <a:ext cx="77724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OS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103120" y="21214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Linux/macOS/Windows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Linux/macOS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52160" y="2121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Linux preferred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2578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Memory Allocation Breakdown (~1.5GB Total)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29718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SentenceTransformer model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0" y="2971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20% (300MB)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43400" y="300837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43400" y="3008376"/>
            <a:ext cx="30480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FAISS Index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926080" y="32461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13% (200MB)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43400" y="328269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43400" y="3282696"/>
            <a:ext cx="1981200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520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FAQ Data &amp; Embeddings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926080" y="35204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20% (300MB)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343400" y="355701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43400" y="3557016"/>
            <a:ext cx="3048000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Python Runtime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926080" y="3794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27% (400MB)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43400" y="383133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43400" y="3831336"/>
            <a:ext cx="41148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0690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Streamlit/Caching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26080" y="4069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13% (200MB)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43400" y="410565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43400" y="4105656"/>
            <a:ext cx="198120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3434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Other Libraries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926080" y="4343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4% (60MB)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343400" y="437997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43400" y="4379976"/>
            <a:ext cx="609600" cy="164592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6177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OS/Misc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2926080" y="46177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3% (40MB)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343400" y="4654296"/>
            <a:ext cx="411480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43400" y="4654296"/>
            <a:ext cx="45720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CPU Requirements &amp; Disk Storage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Core Count vs.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30352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CPU Cores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737360" y="11155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Latency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26080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Throughput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97680" y="11155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Notes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408176"/>
            <a:ext cx="5303520" cy="256032"/>
          </a:xfrm>
          <a:prstGeom prst="rect">
            <a:avLst/>
          </a:prstGeom>
          <a:solidFill>
            <a:srgbClr val="0D2D44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08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 core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37360" y="1408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3–5ms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26080" y="1408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~250 q/s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297680" y="1408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Acceptable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664208"/>
            <a:ext cx="5303520" cy="256032"/>
          </a:xfrm>
          <a:prstGeom prst="rect">
            <a:avLst/>
          </a:prstGeom>
          <a:solidFill>
            <a:srgbClr val="0A2236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64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 cores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2–4ms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0" y="1664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~400 q/s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0" y="1664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Good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1920240"/>
            <a:ext cx="5303520" cy="256032"/>
          </a:xfrm>
          <a:prstGeom prst="rect">
            <a:avLst/>
          </a:prstGeom>
          <a:solidFill>
            <a:srgbClr val="0D2D44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4 cores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1920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1–3ms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92608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~700 q/s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97680" y="19202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Excellent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176272"/>
            <a:ext cx="5303520" cy="256032"/>
          </a:xfrm>
          <a:prstGeom prst="rect">
            <a:avLst/>
          </a:prstGeom>
          <a:solidFill>
            <a:srgbClr val="0A2236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8+ cores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737360" y="2176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1–2ms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26080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B6D4"/>
                </a:solidFill>
              </a:rPr>
              <a:t>~1500+ q/s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97680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Overkill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2423160"/>
            <a:ext cx="5303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Why Single-Threaded Suffices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2761488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All operations are CPU-bound (not I/O bound)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Streamlit handles concurrent requests by spawning processes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No database queries or network I/O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</a:rPr>
              <a:t>Query processing is &lt;10ms end-to-end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60720" y="7772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Disk Storage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760720" y="1115568"/>
            <a:ext cx="32004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1115568"/>
            <a:ext cx="2103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Component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63840" y="1115568"/>
            <a:ext cx="1097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Size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1389888"/>
            <a:ext cx="3200400" cy="246888"/>
          </a:xfrm>
          <a:prstGeom prst="rect">
            <a:avLst/>
          </a:prstGeom>
          <a:solidFill>
            <a:srgbClr val="0D2D44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138988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Python installation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818120" y="138988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~100MB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760720" y="1645920"/>
            <a:ext cx="3200400" cy="246888"/>
          </a:xfrm>
          <a:prstGeom prst="rect">
            <a:avLst/>
          </a:prstGeom>
          <a:solidFill>
            <a:srgbClr val="0A2236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164592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SentenceTransformer cache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818120" y="16459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~300MB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760720" y="1901952"/>
            <a:ext cx="3200400" cy="246888"/>
          </a:xfrm>
          <a:prstGeom prst="rect">
            <a:avLst/>
          </a:prstGeom>
          <a:solidFill>
            <a:srgbClr val="0D2D44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19019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NumPy/SciPy/PyTorch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818120" y="19019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~200MB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760720" y="2157984"/>
            <a:ext cx="3200400" cy="246888"/>
          </a:xfrm>
          <a:prstGeom prst="rect">
            <a:avLst/>
          </a:prstGeom>
          <a:solidFill>
            <a:srgbClr val="0A2236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215798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FAQ JSON data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18120" y="215798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~2MB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760720" y="2414016"/>
            <a:ext cx="3200400" cy="246888"/>
          </a:xfrm>
          <a:prstGeom prst="rect">
            <a:avLst/>
          </a:prstGeom>
          <a:solidFill>
            <a:srgbClr val="0D2D44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06440" y="241401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Streamlit cache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818120" y="2414016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~50MB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60720" y="2670048"/>
            <a:ext cx="3200400" cy="246888"/>
          </a:xfrm>
          <a:prstGeom prst="rect">
            <a:avLst/>
          </a:prstGeom>
          <a:solidFill>
            <a:srgbClr val="0A2236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267004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Application source code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818120" y="2670048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6B6D4"/>
                </a:solidFill>
              </a:rPr>
              <a:t>~500KB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760720" y="2926080"/>
            <a:ext cx="3200400" cy="246888"/>
          </a:xfrm>
          <a:prstGeom prst="rect">
            <a:avLst/>
          </a:prstGeom>
          <a:solidFill>
            <a:srgbClr val="0891B2"/>
          </a:solidFill>
          <a:ln w="6350">
            <a:solidFill>
              <a:srgbClr val="065A8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06440" y="292608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Total (minimum)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818120" y="292608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~650MB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Achievements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1993392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8696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</a:rPr>
              <a:t>97.73%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Across 7,229 test cases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777240"/>
            <a:ext cx="19933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88696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3.2ms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Avg Latency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50592" y="175564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60× faster than LLM-based systems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26864" y="77724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26864" y="777240"/>
            <a:ext cx="1993392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88696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1.5GB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26864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Memory Footprint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26864" y="175564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70% less than LLM alternatives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03136" y="777240"/>
            <a:ext cx="1993392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777240"/>
            <a:ext cx="1993392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886968"/>
            <a:ext cx="19933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Zero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03136" y="148132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Hallucination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03136" y="1755648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FAQ-only retrieval guarantee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606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Additional Highlights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2971800"/>
            <a:ext cx="274320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17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Deterministic behavior — same query always returns the same answer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54680" y="2971800"/>
            <a:ext cx="274320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017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Pure retrieval architecture — no generative AI hallucinations possible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743200" cy="77724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017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</a:rPr>
              <a:t>Production-ready — approved for deployment as of March 31,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38587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428853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436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Monitor real-world performance and user feedback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4288536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288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Iterate using Priority 1-3 improvements from Failure Analysis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463600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" y="4599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Expand FAQ database as new admissions policies emerge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4636008"/>
            <a:ext cx="256032" cy="25603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029200" y="45994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Enhance with user feedback loop and contextual memory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github.com/vanix056/Nust-admissions-guide  •  Maintained by Muhammad Abdullah Waqar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NUST Admissions Chatbot</dc:title>
  <dc:subject>PptxGenJS Presentation</dc:subject>
  <dc:creator>Muhammad Abdullah Waqar</dc:creator>
  <cp:lastModifiedBy>Muhammad Abdullah Waqar</cp:lastModifiedBy>
  <cp:revision>1</cp:revision>
  <dcterms:created xsi:type="dcterms:W3CDTF">2026-03-31T11:50:13Z</dcterms:created>
  <dcterms:modified xsi:type="dcterms:W3CDTF">2026-03-31T11:50:13Z</dcterms:modified>
</cp:coreProperties>
</file>